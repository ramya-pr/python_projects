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Consumer Shopping Trends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4A3B8"/>
                </a:solidFill>
              </a:defRPr>
            </a:pPr>
            <a:r>
              <a:t>The Profit-Satisfaction Matrix: A Strategy for Sustainable Growth</a:t>
            </a:r>
          </a:p>
          <a:p>
            <a:r>
              <a:t>Current Trends, A/B Validation, and Financial ROI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Preference Gap: Current Trends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60A5FA"/>
                </a:solidFill>
              </a:defRPr>
            </a:pPr>
            <a:r>
              <a:t>REFINED SEGMENTATION: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60A5FA"/>
                </a:solidFill>
              </a:defRPr>
            </a:pPr>
            <a:r>
              <a:t>• PREMIUM: 99.9% Store | 0.0% Online | 0.1% Hybrid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60A5FA"/>
                </a:solidFill>
              </a:defRPr>
            </a:pPr>
            <a:r>
              <a:t>• VALUE: 71.5% Store | 22.1% Online | 6.4% Hybrid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60A5FA"/>
                </a:solidFill>
              </a:defRPr>
            </a:pPr>
            <a:r>
              <a:t>THE STORE DOMINANCE: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• High-value customers are 100% Store-loyal due to 'Touch/Feel' needs. Digital is a 'Value' behavior.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486400" cy="530352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pping_trend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303520" cy="1767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Opportunities: Areas for Improvement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10B981"/>
                </a:solidFill>
              </a:defRPr>
            </a:pPr>
            <a:r>
              <a:t>THE FRICTION GAP: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• Online/Hybrid adoption is limited by Trust and Tech-Savvy scores (10% lower for Store-loyalists).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10B981"/>
                </a:solidFill>
              </a:defRPr>
            </a:pPr>
            <a:r>
              <a:t>THE UNTAPPED MODEL: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• Only 3.1% Hybrid adoption. Bridging digital discovery with physical fulfillment is a major growth lever.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486400" cy="530352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gital_frictio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30352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Validation: A/B Test Hypotheses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F59E0B"/>
                </a:solidFill>
              </a:defRPr>
            </a:pPr>
            <a:r>
              <a:t>TEST 1: Premium Hybrid Growth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F59E0B"/>
                </a:solidFill>
              </a:defRPr>
            </a:pPr>
            <a:r>
              <a:t>• Hypothesis: Reserve-In-Store will increase Premium conversion by reducing friction.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F59E0B"/>
                </a:solidFill>
              </a:defRPr>
            </a:pPr>
            <a:r>
              <a:t>TEST 2: Value Online Trust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F59E0B"/>
                </a:solidFill>
              </a:defRPr>
            </a:pPr>
            <a:r>
              <a:t>• Hypothesis: Speed &amp; Trust seals will increase Value segment spend.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F59E0B"/>
                </a:solidFill>
              </a:defRPr>
            </a:pPr>
            <a:r>
              <a:t>TEST 3: Targeted Value Rewards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F59E0B"/>
                </a:solidFill>
              </a:defRPr>
            </a:pPr>
            <a:r>
              <a:t>• Hypothesis: Basket-value incentives will drive higher frequency for Value shoppers.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486400" cy="530352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ioritised_recommend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303520" cy="21214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Validation: A/B Test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EF4444"/>
                </a:solidFill>
              </a:defRPr>
            </a:pPr>
            <a:r>
              <a:t>TEST 1 (PREMIUM HYBRID): WIN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EF4444"/>
                </a:solidFill>
              </a:defRPr>
            </a:pPr>
            <a:r>
              <a:t>• Result: +5.6% Conversion (p &lt; 0.0001).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EF4444"/>
                </a:solidFill>
              </a:defRPr>
            </a:pPr>
            <a:r>
              <a:t>TEST 2 &amp; 3 (VALUE SEGMENT): LEARN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EF4444"/>
                </a:solidFill>
              </a:defRPr>
            </a:pPr>
            <a:r>
              <a:t>• Result: No significant spend increase (p &gt; 0.2).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EF4444"/>
                </a:solidFill>
              </a:defRPr>
            </a:pPr>
            <a:r>
              <a:t>CONCLUSION: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• Premium Hybrid is the proven growth lever. Value shoppers are highly budget-stable.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486400" cy="530352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gital_frictio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30352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ROI: Defensible Growth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F59E0B"/>
                </a:solidFill>
              </a:defRPr>
            </a:pPr>
            <a:r>
              <a:t>PREMIUM HYBRID ROI: 341.4%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F59E0B"/>
                </a:solidFill>
              </a:defRPr>
            </a:pPr>
            <a:r>
              <a:t>• Net Profit Increase: $22,071 / Customer / Year.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F59E0B"/>
                </a:solidFill>
              </a:defRPr>
            </a:pPr>
            <a:r>
              <a:t>• Strategy: High-touch Boutique Hybrid ($5,000 cost).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F59E0B"/>
                </a:solidFill>
              </a:defRPr>
            </a:pPr>
            <a:r>
              <a:t>VALUE BREAK-EVEN: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• 0.025% lift needed to cover rewards. Despite low cost, zero lift makes it a 'deadweight loss'.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486400" cy="530352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gital_frictio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303520" cy="1988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93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Strategy: The Sustainable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10B981"/>
                </a:solidFill>
              </a:defRPr>
            </a:pPr>
            <a:r>
              <a:t>PHASE 1: Premium Hybrid Roll-out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• Deploy 'Reserve Online, Pick-up In-Store' for high-value items immediately.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10B981"/>
                </a:solidFill>
              </a:defRPr>
            </a:pPr>
            <a:r>
              <a:t>PHASE 2: Value Segment Retention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• Maintain current Online Value offerings; stop chasing marginal spend growth via incentives.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b="1" sz="2000">
                <a:solidFill>
                  <a:srgbClr val="10B981"/>
                </a:solidFill>
              </a:defRPr>
            </a:pPr>
            <a:r>
              <a:t>THE RED LINE:</a:t>
            </a:r>
          </a:p>
          <a:p>
            <a:pPr>
              <a:spcAft>
                <a:spcPts val="800"/>
              </a:spcAft>
              <a:defRPr sz="1700">
                <a:solidFill>
                  <a:srgbClr val="E2E8F0"/>
                </a:solidFill>
              </a:defRPr>
            </a:pPr>
            <a:r>
              <a:t>• Reallocate marketing budget from Value rewards to Premium service innovation.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486400" cy="530352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ioritised_recommend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303520" cy="21214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